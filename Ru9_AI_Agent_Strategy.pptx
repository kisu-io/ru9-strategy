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2743200"/>
            <a:ext cx="7315200" cy="7315200"/>
          </a:xfrm>
          <a:prstGeom prst="ellipse">
            <a:avLst/>
          </a:prstGeom>
          <a:solidFill>
            <a:srgbClr val="FF7A6B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1828800"/>
            <a:ext cx="5486400" cy="5486400"/>
          </a:xfrm>
          <a:prstGeom prst="ellipse">
            <a:avLst/>
          </a:prstGeom>
          <a:solidFill>
            <a:srgbClr val="FFD7CF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800" kern="0" dirty="0">
                <a:solidFill>
                  <a:srgbClr val="FF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 ·  APRIL 2026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Mini-ERP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Sleep Intelligence.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12-month plan to layer AI agents on top of Ru9's Lark, POS, and Power BI stack — built for Vietnam, designed for scale.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5852160"/>
            <a:ext cx="914400" cy="36576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Ru9 — The Sleep Company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·  CURRENT STATE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already operate like a digital-native company.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leverage point is intelligence on top of the data you already collect.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7033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0624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already working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3246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Suite as the operating layer — Base for ERP, Sheets, and Messenger as the daily collaboration surface.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connected to ERP — every store and online channel feeds the same source of truth.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dashboards used daily by leadership for sales, inventory, and channel performance.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66260" y="1920240"/>
            <a:ext cx="37033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66260" y="1920240"/>
            <a:ext cx="64008" cy="420624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4" name="Text 12"/>
          <p:cNvSpPr/>
          <p:nvPr/>
        </p:nvSpPr>
        <p:spPr>
          <a:xfrm>
            <a:off x="4640580" y="21488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things start to strain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40580" y="2697480"/>
            <a:ext cx="3246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Customer-facing chat (web, Zalo OA, FB) is human-only — slow at peak hours, inconsistent answers.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100-night trial workflow is manual: nudges, returns, swaps run on memory, not process.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and stock-out prevention rely on dashboards being read — not on the system acting.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knowledge (SOPs, policies, KPI lookups) lives in Lark docs people forget exist.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75320" y="1920240"/>
            <a:ext cx="370332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75320" y="1920240"/>
            <a:ext cx="64008" cy="420624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18" name="Text 16"/>
          <p:cNvSpPr/>
          <p:nvPr/>
        </p:nvSpPr>
        <p:spPr>
          <a:xfrm>
            <a:off x="8549640" y="214884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unlock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9640" y="2697480"/>
            <a:ext cx="32461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that read your data, follow your rules, and act inside the systems your team already uses.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chatbot bolt-on — a coordinated portfolio of 5 agents on a shared data + governance foundation.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·  STRATEGIC THESIS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bets shape every choice in this plan.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bet maps to one of the focus areas Ru9 cares about: customer, operations, and the people running the business.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828800"/>
            <a:ext cx="64008" cy="1417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057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783080" y="20299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customer never waits.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783080" y="24688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Ru9 customer — pre-sale, in-trial, post-purchase — gets a Vietnamese-first, on-brand reply within 30 seconds, on the channel they prefer (Web, Zalo, FB). Agents handle ~70% of volume; humans handle the moments that matter.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42900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429000"/>
            <a:ext cx="64008" cy="1417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657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supply chain runs itself, until it shouldn't.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783080" y="40690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returns, and B2B reorders are routed by agents reading POS + Lark Base in real time. Humans approve POs and exceptions; the system handles the rest. Stock-outs become rare, not routine.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5029200"/>
            <a:ext cx="11247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5029200"/>
            <a:ext cx="64008" cy="14173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5257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1783080" y="523036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Lark becomes the front door to the company's brain.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1783080" y="5669280"/>
            <a:ext cx="9326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at Ru9 can ask a question in Lark — about a SOP, an SKU, yesterday's sales, a customer's history — and get a sourced answer in seconds. Power BI stops being a place you visit; insights come to you.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·  AGENT PORTFOLIO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agents, one platform.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agent owns a workflow end-to-end. They share data, tools, and governance — they don't duplicate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1338560" cy="50292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9202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01952" y="19202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28032" y="1920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workflow of...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205472" y="1920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where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674352" y="192024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11338560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1792" y="242316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901952" y="24231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Concierge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28032" y="242316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 chat: mattress fit, product Q&amp;A, trial sign-up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205472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Web, Zalo OA, FB Messenger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674352" y="2423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063240"/>
            <a:ext cx="11338560" cy="640080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30632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901952" y="30632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Trial Guardian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828032" y="30632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100-night trial nudges, returns intake, swaps, refund routing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205472" y="306324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Zalo, Lark ops queue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9674352" y="30632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57200" y="3703320"/>
            <a:ext cx="11338560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792" y="370332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901952" y="3703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Sentinel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28032" y="37033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forecast, stock-out alerts, draft POs, supplier comms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205472" y="37033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Base + Power BI alerts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674352" y="37033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11338560" cy="640080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1792" y="434340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1901952" y="43434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Hospitality Liaison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828032" y="434340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partner accounts: reorders, contracts, install scheduling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7205472" y="43434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+ email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674352" y="43434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4983480"/>
            <a:ext cx="11338560" cy="640080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" y="49834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1901952" y="49834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314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Lark Concierge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828032" y="498348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Q&amp;A, daily KPI digest, anomaly alerts, SOP lookup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7205472" y="498348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Messenger + groups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674352" y="49834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five agents share one customer 360, one knowledge base, one tool registry, one eval harness.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·  AGENT 01 — SLEEP CONCIERGE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Concierge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Vietnamese-first sleep advisor across every customer touchpoint.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976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Help any visitor or customer find the right Ru9 product in under five turns.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OUTCOMES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840480"/>
            <a:ext cx="4114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web→trial conversion by 15–25%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response under 30 seconds, 24/7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 60–70% of pre-sale tickets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off to humans with full context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12080" y="1920240"/>
            <a:ext cx="649224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0" y="1920240"/>
            <a:ext cx="64008" cy="205740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2057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3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CAN DO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0" y="2331720"/>
            <a:ext cx="61264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diagnostic — height/weight, sleep position, partner, body issues, budget — recommends Original / Hybrid / pillow.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Q&amp;A grounded in Ru9 specs (foam layers, certifications, dimensions, care, delivery, trial terms).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Cart-recovery and trial sign-up — drops the link to the right SKU on the right channel.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(Vietnamese primary, English fallback) with a consistent Ru9 voice.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212080" y="4160520"/>
            <a:ext cx="649224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212080" y="4160520"/>
            <a:ext cx="64008" cy="205740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0" y="429768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1A2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IT CALLS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0" y="4572000"/>
            <a:ext cx="61264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product_catalog.search() — Lark Base read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inventory.check_availability() — POS read, by store / channel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customer.lookup() — Customer 360 mart, identity-resolved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trial.create_signup_link() — ecommerce action, idempotent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handoff.to_human() — opens a Lark thread in #cx-vip with transcript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·  AGENT 02 — TRIAL GUARDIAN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Trial Guardian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100-night trial finally runs as a process, not a memory exercise.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976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42316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Carry every trial customer from delivery to keep-or-return — proactively, on-brand.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5204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OUTCOMES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840480"/>
            <a:ext cx="41148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+5–10 pts on trial-to-keep rate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processing time down 60%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cycle from days to hours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 per trial in Lark Base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12080" y="1920240"/>
            <a:ext cx="649224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0" y="1920240"/>
            <a:ext cx="64008" cy="429768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0" y="2057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3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100-NIGHT WORKFLOW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86984" y="2505456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18" name="Text 16"/>
          <p:cNvSpPr/>
          <p:nvPr/>
        </p:nvSpPr>
        <p:spPr>
          <a:xfrm>
            <a:off x="5897880" y="246888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903720" y="246888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message on Zalo: setup tips, expected break-in period.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586984" y="3072384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21" name="Text 19"/>
          <p:cNvSpPr/>
          <p:nvPr/>
        </p:nvSpPr>
        <p:spPr>
          <a:xfrm>
            <a:off x="5897880" y="3035808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03720" y="303580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Comfort check-in. If discomfort flagged → swap recommendation, escalate to CX.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586984" y="3639312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24" name="Text 22"/>
          <p:cNvSpPr/>
          <p:nvPr/>
        </p:nvSpPr>
        <p:spPr>
          <a:xfrm>
            <a:off x="5897880" y="360273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03720" y="36027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Sleep-quality nudge + soft review request.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586984" y="4206240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27" name="Text 25"/>
          <p:cNvSpPr/>
          <p:nvPr/>
        </p:nvSpPr>
        <p:spPr>
          <a:xfrm>
            <a:off x="5897880" y="416966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03720" y="416966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Mid-trial pulse. Collect NPS. Quietly score keep-vs-return likelihood.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586984" y="4773168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30" name="Text 28"/>
          <p:cNvSpPr/>
          <p:nvPr/>
        </p:nvSpPr>
        <p:spPr>
          <a:xfrm>
            <a:off x="5897880" y="473659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03720" y="473659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window opens. Personalized message tuned to keep-vs-return signal.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586984" y="5340096"/>
            <a:ext cx="164592" cy="164592"/>
          </a:xfrm>
          <a:prstGeom prst="ellipse">
            <a:avLst/>
          </a:prstGeom>
          <a:solidFill>
            <a:srgbClr val="FF7A6B"/>
          </a:solidFill>
          <a:ln/>
        </p:spPr>
      </p:sp>
      <p:sp>
        <p:nvSpPr>
          <p:cNvPr id="33" name="Text 31"/>
          <p:cNvSpPr/>
          <p:nvPr/>
        </p:nvSpPr>
        <p:spPr>
          <a:xfrm>
            <a:off x="5897880" y="5303520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100+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903720" y="5303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Auto-process keeps. Returns: schedule pickup, draft refund, log to Lark Base.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·  AGENT 03 — INVENTORY SENTINEL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Sentinel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watching dashboards. Starts acting on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976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03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JOB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423160"/>
            <a:ext cx="4114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 demand by SKU × channel, prevent stock-outs, and draft replenishment before a human asks.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840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OUTCOMES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160520"/>
            <a:ext cx="411480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 incidents down 50%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inventory outstanding −10%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MAPE under 15% on top SKUs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 draft → human approve in &lt;10 min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12080" y="1920240"/>
            <a:ext cx="31546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212080" y="1920240"/>
            <a:ext cx="64008" cy="205740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6" name="Text 14"/>
          <p:cNvSpPr/>
          <p:nvPr/>
        </p:nvSpPr>
        <p:spPr>
          <a:xfrm>
            <a:off x="5440680" y="21214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Forecasts demand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40680" y="251460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12 months of POS + ecom orders. Produces SKU × channel × week forecasts with confidence intervals.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549640" y="1920240"/>
            <a:ext cx="31546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549640" y="1920240"/>
            <a:ext cx="64008" cy="205740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20" name="Text 18"/>
          <p:cNvSpPr/>
          <p:nvPr/>
        </p:nvSpPr>
        <p:spPr>
          <a:xfrm>
            <a:off x="8778240" y="212140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Predicts stock-outs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778240" y="251460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Cross-references on-hand, in-transit, supplier lead times. Posts a Lark alert ≥14 days before risk.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212080" y="4160520"/>
            <a:ext cx="31546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5212080" y="4160520"/>
            <a:ext cx="64008" cy="205740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24" name="Text 22"/>
          <p:cNvSpPr/>
          <p:nvPr/>
        </p:nvSpPr>
        <p:spPr>
          <a:xfrm>
            <a:off x="5440680" y="43616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Drafts purchase orders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440680" y="47548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Suggests qty, supplier, ETA. Routes to ops for approval. Auto-posts to Lark Base on approval.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549640" y="4160520"/>
            <a:ext cx="3154680" cy="20574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549640" y="4160520"/>
            <a:ext cx="64008" cy="205740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28" name="Text 26"/>
          <p:cNvSpPr/>
          <p:nvPr/>
        </p:nvSpPr>
        <p:spPr>
          <a:xfrm>
            <a:off x="8778240" y="4361688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Watches the supply chain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778240" y="4754880"/>
            <a:ext cx="2788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Pings supplier on overdue POs. Flags lead-time drift. Suggests safety-stock adjustments quarterly.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·  AGENTS 04 &amp; 05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Hospitality Liaison &amp; Lark Concierge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grows the B2B side. One agent makes Lark the front door to the company's brain.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62356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976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057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Hospitality Liaison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account manager for Ru9's hotel, resort, and serviced-apartment partners.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52044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every partner contract, install date, and replacement cycle.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reorder conversations 60 days before mattress retirement.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B2B quotes from price book + partner tier.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install scheduling across logistics and the partner's ops team.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 a weekly B2B health digest to Lark group.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63640" y="1920240"/>
            <a:ext cx="544068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63640" y="1920240"/>
            <a:ext cx="64008" cy="429768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20574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3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05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537960" y="23317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Lark Concierge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28346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Lark-native bot. Every team member's first point of contact for any internal question.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37960" y="3520440"/>
            <a:ext cx="507492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"How many Original Queens did we sell yesterday?" → Power BI semantic-model query, sourced answer.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"What's our return policy for hospitality clients?" → SOP retrieval with citation.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8:00 KPI digest auto-posted to leadership group.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alerts ("showroom HCM-Q7 is 38% below trend this week") with first-pass diagnosis.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actions logged, all answers traceable to source.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·  DATA ARCHITECTURE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layers. One source of truth. No duplicate brains.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architecture is the platform. Get this right and every future agent gets cheaper to ship.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112471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874520"/>
            <a:ext cx="2286000" cy="841248"/>
          </a:xfrm>
          <a:prstGeom prst="rect">
            <a:avLst/>
          </a:prstGeom>
          <a:solidFill>
            <a:srgbClr val="5A64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874520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SOURCE SYSTEMS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880360" y="1874520"/>
            <a:ext cx="8732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Base (mini-ERP)  ·  POS — stores + showrooms  ·  Ecommerce (Shopify / Haravan)  ·  Zalo OA  ·  FB Messenger  ·  Web chat  ·  Email  ·  Call logs  ·  Suppliers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770632"/>
            <a:ext cx="112471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770632"/>
            <a:ext cx="2286000" cy="841248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2770632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INGESTION &amp; INTEGRATION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770632"/>
            <a:ext cx="8732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Anycross — Lark-native flows  ·  n8n / Make — cross-system glue  ·  Native APIs + CDC for POS &amp; ecom  ·  Webhooks for real-time customer events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112471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666744"/>
            <a:ext cx="2286000" cy="841248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666744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UNIFIED DATA LAYER (cloud DW)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880360" y="3666744"/>
            <a:ext cx="8732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(raw)  →  Silver (conformed)  →  Gold (marts)  ·  Customer 360  ·  Inventory  ·  Orders  ·  Returns  ·  B2B  ·  Power BI semantic model points HERE — single source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4562856"/>
            <a:ext cx="112471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4562856"/>
            <a:ext cx="2286000" cy="841248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4562856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AI LAYER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80360" y="4562856"/>
            <a:ext cx="8732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vector store (pgvector or Pinecone) — SOPs, products, policies, transcripts  ·  Claude (via API) for reasoning &amp; generation; Vietnamese-tuned prompts  ·  Agent orchestration + shared tool registry + eval harness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5458968"/>
            <a:ext cx="11247120" cy="8412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00" y="5458968"/>
            <a:ext cx="2286000" cy="841248"/>
          </a:xfrm>
          <a:prstGeom prst="rect">
            <a:avLst/>
          </a:prstGeom>
          <a:solidFill>
            <a:srgbClr val="0F1830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5458968"/>
            <a:ext cx="21945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AF6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SURFACE LAYER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880360" y="5458968"/>
            <a:ext cx="8732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bots &amp; groups  ·  Web chat widget  ·  Zalo OA  ·  FB Messenger  ·  Power BI embedded insights (agent-generated narratives)  ·  Email automation  ·  Internal Lark approvals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Recommendation: BigQuery as DW (low cost in APAC, Power BI native connector, scales to streaming). pgvector on Cloud SQL for RAG (simpler to govern than a managed vector DB at this stage).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·  TECH STACK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Buy where it's commodity. Build where it's Ru9-specific.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pragmatic stack that respects what already works (Lark, POS, Power BI) and adds only what's load-bearing.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370332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429768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93B5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/ ADOPT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LLM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286207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via Anthropic API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320954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warehouse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346557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BigQuery (APAC region)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31520" y="38130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Orchestration glue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069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(self-hosted) or Lark Anycross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31520" y="4416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Vector store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67258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pgvector on managed Postgres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31520" y="502005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Observability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27608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LangSmith or Helicone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31520" y="56235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Identity / SSO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87959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SSO (already in place)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66260" y="1920240"/>
            <a:ext cx="370332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66260" y="1920240"/>
            <a:ext cx="64008" cy="42976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25" name="Text 23"/>
          <p:cNvSpPr/>
          <p:nvPr/>
        </p:nvSpPr>
        <p:spPr>
          <a:xfrm>
            <a:off x="4640580" y="2148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/ RU9-SPECIFIC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4058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Customer 360 model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40580" y="286207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stitch across POS, ecom, Zalo, FB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640580" y="320954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Sleep diagnostic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640580" y="346557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Ru9's product-fit logic encoded as a tool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640580" y="38130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Trial state machine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640580" y="4069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100-night lifecycle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0580" y="4416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Tool registry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640580" y="467258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tool wrappers around Lark Base, POS, Power BI APIs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640580" y="502005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 harness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640580" y="5276088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Vietnamese-language goldens per agent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4640580" y="56235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Policy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640580" y="587959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thresholds, PII rules, action allow-lists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8275320" y="1920240"/>
            <a:ext cx="3703320" cy="42976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275320" y="1920240"/>
            <a:ext cx="64008" cy="429768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40" name="Text 38"/>
          <p:cNvSpPr/>
          <p:nvPr/>
        </p:nvSpPr>
        <p:spPr>
          <a:xfrm>
            <a:off x="8549640" y="214884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A25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AS-IS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549640" y="260604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Lark Suite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8549640" y="2862072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collab + ERP surface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8549640" y="320954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POS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549640" y="3465576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Continues as transaction system of record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8549640" y="381304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Power BI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8549640" y="4069080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Stays the executive BI front-end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8549640" y="4416552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Existing dashboards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8549640" y="4672584"/>
            <a:ext cx="3246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Re-wire to DW, don't rebuild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·  GOVERNANCE &amp; COMPLIANCE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is the product.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is built in from day one — not retrofitted after the first incident.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56235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920240"/>
            <a:ext cx="64008" cy="21031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214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Vietnam PDPD compliance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514600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 13/2023/ND-CP — Personal Data Protection Decree.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capture for any AI-mediated communication; opt-out honored within 24h.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Breach notification workflow: 72-hour clock, pre-drafted Lark + email templates.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data-protection impact assessment for each agent.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1920240"/>
            <a:ext cx="56235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63640" y="1920240"/>
            <a:ext cx="64008" cy="2103120"/>
          </a:xfrm>
          <a:prstGeom prst="rect">
            <a:avLst/>
          </a:prstGeom>
          <a:solidFill>
            <a:srgbClr val="93B5A8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1214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Human-in-the-loop boundaries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37960" y="2514600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Refunds &gt; VND 5M: human approval in Lark.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&gt; VND 50M: ops director approval.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First-time customer escalation: dual-routing to agent + human.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"I'm not sure" → handoff with full context.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206240"/>
            <a:ext cx="56235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4206240"/>
            <a:ext cx="64008" cy="210312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44074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&amp; access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31520" y="4800600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LLM calls (names → tokens, phone → tokens).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registry is allow-list only; agents can't reach beyond their scope.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SSO for human users; service accounts per agent.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actions logged to immutable audit table.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206240"/>
            <a:ext cx="5623560" cy="210312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4206240"/>
            <a:ext cx="64008" cy="2103120"/>
          </a:xfrm>
          <a:prstGeom prst="rect">
            <a:avLst/>
          </a:prstGeom>
          <a:solidFill>
            <a:srgbClr val="5A6478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4407408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&amp; evaluation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7960" y="4800600"/>
            <a:ext cx="51663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Vietnamese-language golden datasets per agent (200+ cases).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regression run; deploy only if pass-rate ≥ baseline.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shadow mode for new versions before promotion.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review with CX, Ops, and Tech leads.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· 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months. Four phases. One platform.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ships value to the business — not just to the architecture diagram.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4572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9" name="Shape 7"/>
          <p:cNvSpPr/>
          <p:nvPr/>
        </p:nvSpPr>
        <p:spPr>
          <a:xfrm>
            <a:off x="1444752" y="2157984"/>
            <a:ext cx="219456" cy="219456"/>
          </a:xfrm>
          <a:prstGeom prst="ellipse">
            <a:avLst/>
          </a:prstGeom>
          <a:solidFill>
            <a:srgbClr val="1A2547"/>
          </a:solidFill>
          <a:ln w="19050">
            <a:solidFill>
              <a:srgbClr val="FF7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2606040"/>
            <a:ext cx="219456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606040"/>
            <a:ext cx="64008" cy="36118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4008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&amp; alignment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69080"/>
            <a:ext cx="1920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audit: Lark Base, POS, ecom, Power BI, Zalo, FB.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SOP capture for the five workflows.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+ RACI signed.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85032" y="2157984"/>
            <a:ext cx="219456" cy="219456"/>
          </a:xfrm>
          <a:prstGeom prst="ellipse">
            <a:avLst/>
          </a:prstGeom>
          <a:solidFill>
            <a:srgbClr val="1A2547"/>
          </a:solidFill>
          <a:ln w="19050">
            <a:solidFill>
              <a:srgbClr val="FF7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7480" y="2606040"/>
            <a:ext cx="219456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697480" y="2606040"/>
            <a:ext cx="64008" cy="36118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9" name="Text 17"/>
          <p:cNvSpPr/>
          <p:nvPr/>
        </p:nvSpPr>
        <p:spPr>
          <a:xfrm>
            <a:off x="288036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8036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2–3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88036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880360" y="4069080"/>
            <a:ext cx="1920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 DW + Customer 360 v1.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knowledge base + tool registry + eval harness.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docs + PDPD baseline.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25312" y="2157984"/>
            <a:ext cx="219456" cy="219456"/>
          </a:xfrm>
          <a:prstGeom prst="ellipse">
            <a:avLst/>
          </a:prstGeom>
          <a:solidFill>
            <a:srgbClr val="1A2547"/>
          </a:solidFill>
          <a:ln w="19050">
            <a:solidFill>
              <a:srgbClr val="FF7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37760" y="2606040"/>
            <a:ext cx="219456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37760" y="2606040"/>
            <a:ext cx="64008" cy="36118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26" name="Text 24"/>
          <p:cNvSpPr/>
          <p:nvPr/>
        </p:nvSpPr>
        <p:spPr>
          <a:xfrm>
            <a:off x="512064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12064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4–6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12064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two agents live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120640" y="4069080"/>
            <a:ext cx="1920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Concierge — web only first, then Zalo + FB.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Concierge — internal Q&amp;A + KPI digest.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Pilot, measure, iterate weekly.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65592" y="2157984"/>
            <a:ext cx="219456" cy="219456"/>
          </a:xfrm>
          <a:prstGeom prst="ellipse">
            <a:avLst/>
          </a:prstGeom>
          <a:solidFill>
            <a:srgbClr val="1A2547"/>
          </a:solidFill>
          <a:ln w="19050">
            <a:solidFill>
              <a:srgbClr val="FF7A6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78040" y="2606040"/>
            <a:ext cx="219456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178040" y="2606040"/>
            <a:ext cx="64008" cy="36118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3" name="Text 31"/>
          <p:cNvSpPr/>
          <p:nvPr/>
        </p:nvSpPr>
        <p:spPr>
          <a:xfrm>
            <a:off x="736092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736092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7–9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36092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Operations scale-out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360920" y="4069080"/>
            <a:ext cx="1920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Sentinel + Trial Guardian.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+ agent integration deepens.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+ incident playbooks.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10405872" y="2157984"/>
            <a:ext cx="219456" cy="219456"/>
          </a:xfrm>
          <a:prstGeom prst="ellipse">
            <a:avLst/>
          </a:prstGeom>
          <a:solidFill>
            <a:srgbClr val="1A2547"/>
          </a:solidFill>
          <a:ln w="19050">
            <a:solidFill>
              <a:srgbClr val="FF7A6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18320" y="2606040"/>
            <a:ext cx="2194560" cy="3611880"/>
          </a:xfrm>
          <a:prstGeom prst="rect">
            <a:avLst/>
          </a:prstGeom>
          <a:solidFill>
            <a:srgbClr val="FFFFFF"/>
          </a:solidFill>
          <a:ln w="6350">
            <a:solidFill>
              <a:srgbClr val="D9D2C7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6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418320" y="2606040"/>
            <a:ext cx="64008" cy="361188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40" name="Text 38"/>
          <p:cNvSpPr/>
          <p:nvPr/>
        </p:nvSpPr>
        <p:spPr>
          <a:xfrm>
            <a:off x="9601200" y="2697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400" kern="0" dirty="0">
                <a:solidFill>
                  <a:srgbClr val="FF7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601200" y="2971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Months 10–12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601200" y="329184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B2B + multi-agent orchestration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601200" y="4069080"/>
            <a:ext cx="192024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Liaison live.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Cross-agent handoffs (e.g. Trial Guardian → Inventory Sentinel for swap).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automation.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Critical-path dependency: Phase 1 must be solid before Phase 2 ships. Skipping foundation = brittle agents and re-platforming in year two.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0" y="2926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400" kern="0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·  SUCCESS METRICS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65379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Ru9 AI Agent Platform  ·  Strategy &amp; Roadmap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058400" y="6537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457200" y="5486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25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we'll know it's working.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Targets are 12-month aspirations measured against a baseline locked in Phase 0.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11338560" cy="502920"/>
          </a:xfrm>
          <a:prstGeom prst="rect">
            <a:avLst/>
          </a:prstGeom>
          <a:solidFill>
            <a:srgbClr val="1A254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20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0" y="1920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North-star metric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869680" y="19202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Year-1 target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113385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423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Concierge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931920" y="242316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Web→trial conversion uplift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869680" y="2423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+15 to +25%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807208"/>
            <a:ext cx="11338560" cy="384048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8072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Concierge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931920" y="280720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First-response time, all channels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869680" y="280720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30 seconds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7200" y="3191256"/>
            <a:ext cx="113385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19125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 Concierge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931920" y="319125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Pre-sale ticket deflection rate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319125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60–70%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575304"/>
            <a:ext cx="11338560" cy="384048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57530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Guardian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3931920" y="357530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Trial-to-keep rate uplift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869680" y="357530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+5 to +10 pts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113385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Guardian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3931920" y="395935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processing time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869680" y="395935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−60%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11338560" cy="384048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3434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Sentinel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3931920" y="434340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 incidents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869680" y="43434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−50%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457200" y="4727448"/>
            <a:ext cx="113385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72744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Sentinel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3931920" y="472744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MAPE on top SKUs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8869680" y="472744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15%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5111496"/>
            <a:ext cx="11338560" cy="384048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0080" y="5111496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 Liaison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3931920" y="5111496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repeat-order rate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8869680" y="511149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+20%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57200" y="5495544"/>
            <a:ext cx="11338560" cy="384048"/>
          </a:xfrm>
          <a:prstGeom prst="rect">
            <a:avLst/>
          </a:prstGeom>
          <a:solidFill>
            <a:srgbClr val="FFFFFF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495544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Concierge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3931920" y="5495544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active staff users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869680" y="549554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70%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457200" y="5879592"/>
            <a:ext cx="11338560" cy="384048"/>
          </a:xfrm>
          <a:prstGeom prst="rect">
            <a:avLst/>
          </a:prstGeom>
          <a:solidFill>
            <a:srgbClr val="EEE8E0"/>
          </a:solidFill>
          <a:ln w="5080">
            <a:solidFill>
              <a:srgbClr val="D9D2C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080" y="587959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Lark Concierge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3931920" y="5879592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31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answer a policy / KPI question</a:t>
            </a:r>
            <a:endParaRPr lang="en-US" sz="1150" dirty="0"/>
          </a:p>
        </p:txBody>
      </p:sp>
      <p:sp>
        <p:nvSpPr>
          <p:cNvPr id="51" name="Text 49"/>
          <p:cNvSpPr/>
          <p:nvPr/>
        </p:nvSpPr>
        <p:spPr>
          <a:xfrm>
            <a:off x="8869680" y="58795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7A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&lt; 1 minute</a:t>
            </a:r>
            <a:endParaRPr lang="en-US" sz="1150" dirty="0"/>
          </a:p>
        </p:txBody>
      </p:sp>
      <p:sp>
        <p:nvSpPr>
          <p:cNvPr id="52" name="Text 50"/>
          <p:cNvSpPr/>
          <p:nvPr/>
        </p:nvSpPr>
        <p:spPr>
          <a:xfrm>
            <a:off x="457200" y="64922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are captured during Phase 0. Targets are revisited at Month 6 and Month 12, with public review in the Lark leadership group.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114800"/>
            <a:ext cx="6400800" cy="6400800"/>
          </a:xfrm>
          <a:prstGeom prst="ellipse">
            <a:avLst/>
          </a:prstGeom>
          <a:solidFill>
            <a:srgbClr val="FF7A6B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640080"/>
            <a:ext cx="54864" cy="45720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685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FF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2801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weeks to first commitment.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3703320" cy="2834640"/>
          </a:xfrm>
          <a:prstGeom prst="rect">
            <a:avLst/>
          </a:prstGeom>
          <a:solidFill>
            <a:srgbClr val="FAF6F2">
              <a:alpha val="10000"/>
            </a:srgbClr>
          </a:solidFill>
          <a:ln w="6350">
            <a:solidFill>
              <a:srgbClr val="FFD7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834640"/>
            <a:ext cx="64008" cy="283464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474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Discovery workshop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Half-day session with Tech, CX, and Ops leads. Walk through Lark Base schema, POS exports, current Power BI models, top 20 customer FAQs.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80560" y="2834640"/>
            <a:ext cx="3703320" cy="2834640"/>
          </a:xfrm>
          <a:prstGeom prst="rect">
            <a:avLst/>
          </a:prstGeom>
          <a:solidFill>
            <a:srgbClr val="FAF6F2">
              <a:alpha val="10000"/>
            </a:srgbClr>
          </a:solidFill>
          <a:ln w="6350">
            <a:solidFill>
              <a:srgbClr val="FFD7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480560" y="2834640"/>
            <a:ext cx="64008" cy="283464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3" name="Text 11"/>
          <p:cNvSpPr/>
          <p:nvPr/>
        </p:nvSpPr>
        <p:spPr>
          <a:xfrm>
            <a:off x="475488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754880" y="3474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Phase 0 scoping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75488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baselines, RACI, success metrics, and the Phase 0 deliverable list. Sign Phase-0 SOW.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321040" y="2834640"/>
            <a:ext cx="3703320" cy="2834640"/>
          </a:xfrm>
          <a:prstGeom prst="rect">
            <a:avLst/>
          </a:prstGeom>
          <a:solidFill>
            <a:srgbClr val="FAF6F2">
              <a:alpha val="10000"/>
            </a:srgbClr>
          </a:solidFill>
          <a:ln w="6350">
            <a:solidFill>
              <a:srgbClr val="FFD7C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2834640"/>
            <a:ext cx="64008" cy="2834640"/>
          </a:xfrm>
          <a:prstGeom prst="rect">
            <a:avLst/>
          </a:prstGeom>
          <a:solidFill>
            <a:srgbClr val="FF7A6B"/>
          </a:solidFill>
          <a:ln/>
        </p:spPr>
      </p:sp>
      <p:sp>
        <p:nvSpPr>
          <p:cNvPr id="18" name="Text 16"/>
          <p:cNvSpPr/>
          <p:nvPr/>
        </p:nvSpPr>
        <p:spPr>
          <a:xfrm>
            <a:off x="8595360" y="310896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D7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595360" y="3474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Foundation build begins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95360" y="4206240"/>
            <a:ext cx="3246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AF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BigQuery, Customer 360 v1, RAG store, governance baseline. First Lark Concierge prototype within 6 weeks.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D7C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when you are.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Ru9 — The Sleep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Ru9 AI Agent Platform — 12-Month Transformation</dc:title>
  <dc:subject>PptxGenJS Presentation</dc:subject>
  <dc:creator>AI Strategy</dc:creator>
  <cp:lastModifiedBy>AI Strategy</cp:lastModifiedBy>
  <cp:revision>1</cp:revision>
  <dcterms:created xsi:type="dcterms:W3CDTF">2026-04-21T05:55:30Z</dcterms:created>
  <dcterms:modified xsi:type="dcterms:W3CDTF">2026-04-21T05:55:30Z</dcterms:modified>
</cp:coreProperties>
</file>