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7315200" cy="7315200"/>
          </a:xfrm>
          <a:prstGeom prst="ellipse">
            <a:avLst/>
          </a:prstGeom>
          <a:solidFill>
            <a:srgbClr val="FF7A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D7C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APRIL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Mini-ERP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Sleep Intelligence.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plan to layer AI agents on top of Ru9's Lark, POS, and Power BI stack — orchestrated by OpenClaw, reasoned by Claude, built for Vietnam.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914400" cy="3657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Ru9 — The Sleep Company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CURRENT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operate like a digital-native company.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leverage point is intelligence on top of the data you already collect.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0624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working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Suite as the operating layer — Base for ERP, Sheets, and Messenger as the daily collaboration surface.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connected to ERP — every store and online channel feeds the same source of truth.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used daily by leadership for sales, inventory, and channel performance.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6260" y="192024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6260" y="1920240"/>
            <a:ext cx="64008" cy="420624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640580" y="2148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things start to strain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0580" y="26974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chat (web, Zalo OA, FB) is human-only — slow at peak hours, inconsistent answers.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100-night trial workflow is manual: nudges, returns, swaps run on memory, not process.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stock-out prevention rely on dashboards being read — not on the system acting.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(SOPs, policies, KPI lookups) lives in Lark docs people forget exist.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920240"/>
            <a:ext cx="64008" cy="42062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148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unlock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26974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read your data, follow your rules, and act inside the systems your team already uses.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bolt-on — a coordinated portfolio of 5 agents on a shared data + governance foundation.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STRATEGIC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bets shape every choice in this plan.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bet maps to one of the focus areas Ru9 cares about: customer, operations, and the people running the business.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64008" cy="14173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83080" y="20299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customer never waits.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83080" y="24688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Ru9 customer — pre-sale, in-trial, post-purchase — gets a Vietnamese-first, on-brand reply within 30 seconds, on the channel they prefer (Web, Zalo, FB). Agents handle ~70% of volume; humans handle the moments that matter.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64008" cy="14173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783080" y="36301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supply chain runs itself, until it shouldn't.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83080" y="4069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returns, and B2B reorders are routed by agents reading POS + Lark Base in real time. Humans approve POs and exceptions; the system handles the rest. Stock-outs become rare, not routine.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47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029200"/>
            <a:ext cx="64008" cy="14173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57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783080" y="52303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Lark becomes the front door to the company's brain.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83080" y="56692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at Ru9 can ask a question in Lark — about a SOP, an SKU, yesterday's sales, a customer's history — and get a sourced answer in seconds. Power BI stops being a place you visit; insights come to you.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agents, one platform.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workflow end-to-end. They share data, tools, and governance — they don't duplicate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1338560" cy="50292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01952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803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workflow of...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05472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where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74352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423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01952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Concierge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 chat: mattress fit, product Q&amp;A, trial sign-up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05472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Zalo OA, FB Messenger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74352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1338560" cy="640080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01952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 Guardian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100-night trial nudges, returns intake, swaps, refund routing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05472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Zalo, Lark ops queue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74352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703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01952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Sentinel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forecast, stock-out alerts, draft POs, supplier comms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05472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Base + Power BI alerts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7435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11338560" cy="640080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901952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 Liaison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 accounts: reorders, contracts, install scheduling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05472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+ email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74352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4983480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983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901952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Lark Concierge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28032" y="4983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Q&amp;A, daily KPI digest, anomaly alerts, SOP lookup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205472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Messenger + groups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674352" y="4983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agents share one customer 360, one knowledge base, one tool registry, one eval harness.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AGENT 01 — SLEEP CONCIERGE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Concierge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Vietnamese-first sleep advisor across every customer touchpoint.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any visitor or customer find the right Ru9 product in under five turns.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web→trial conversion by 15–25%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under 30 seconds, 24/7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60–70% of pre-sale tickets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humans with full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6492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920240"/>
            <a:ext cx="64008" cy="205740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33172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diagnostic — height/weight, sleep position, partner, body issues, budget — recommends Original / Hybrid / pillow.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Q&amp;A grounded in Ru9 specs (foam layers, certifications, dimensions, care, delivery, trial terms).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Cart-recovery and trial sign-up — drops the link to the right SKU on the right channel.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(Vietnamese primary, English fallback) with a consistent Ru9 voice.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0" y="4160520"/>
            <a:ext cx="6492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4160520"/>
            <a:ext cx="64008" cy="205740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IT CALLS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45720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product_catalog.search() — Lark Base read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inventory.check_availability() — POS read, by store / channel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customer.lookup() — Customer 360 mart, identity-resolved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trial.create_signup_link() — ecommerce action, idempotent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handoff.to_human() — opens a Lark thread in #cx-vip with transcript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AGENT 02 — TRIAL GUARDIAN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 Guardian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100-night trial finally runs as a process, not a memory exercise.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 every trial customer from delivery to keep-or-return — proactively, on-brand.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+5–10 pts on trial-to-keep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 time down 60%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cycle from days to hours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trial in Lark 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64922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920240"/>
            <a:ext cx="64008" cy="429768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100-NIGHT WORKFLOW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86984" y="2505456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 on Zalo: setup tips, expected break-in period.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86984" y="3072384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3035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3035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check-in. If discomfort flagged → swap recommendation, escalate to CX.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86984" y="3639312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36027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Sleep-quality nudge + soft review request.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86984" y="4206240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41696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Mid-trial pulse. Collect NPS. Quietly score keep-vs-return likelihood.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586984" y="4773168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4736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4736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window opens. Personalized message tuned to keep-vs-return signal.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86984" y="5340096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5303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100+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Auto-process keeps. Returns: schedule pickup, draft refund, log to Lark Base.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AGENT 03 — INVENTORY SENTINEL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Sentinel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watching dashboards. Starts acting on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demand by SKU × channel, prevent stock-outs, and draft replenishment before a human asks.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incidents down 50%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 outstanding −10%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 under 15% on top SKUs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draft → human approve in &lt;10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920240"/>
            <a:ext cx="64008" cy="205740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121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demand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25146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12 months of POS + ecom orders. Produces SKU × channel × week forecasts with confidence intervals.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49640" y="192024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9640" y="1920240"/>
            <a:ext cx="64008" cy="205740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21214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Predicts stock-outs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25146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on-hand, in-transit, supplier lead times. Posts a Lark alert ≥14 days before risk.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416052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4160520"/>
            <a:ext cx="64008" cy="205740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4361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Drafts purchase orders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47548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qty, supplier, ETA. Routes to ops for approval. Auto-posts to Lark Base on approval.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49640" y="416052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9640" y="4160520"/>
            <a:ext cx="64008" cy="205740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361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Watches the supply chain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 supplier on overdue POs. Flags lead-time drift. Suggests safety-stock adjustments quarterly.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AGENTS 04 &amp;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 Liaison &amp; Lark Concierge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grows the B2B side. One agent makes Lark the front door to the company's brain.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623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 Liaison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account manager for Ru9's hotel, resort, and serviced-apartment partners.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partner contract, install date, and replacement cycle.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reorder conversations 60 days before mattress retirement.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B2B quotes from price book + partner tier.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install scheduling across logistics and the partner's ops team.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 weekly B2B health digest to Lark group.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54406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920240"/>
            <a:ext cx="64008" cy="429768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Lark Concierge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Lark-native bot. Every team member's first point of contact for any internal question.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520440"/>
            <a:ext cx="5074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Original Queens did we sell yesterday?" → Power BI semantic-model query, sourced answer.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our return policy for hospitality clients?" → SOP retrieval with citation.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8:00 KPI digest auto-posted to leadership group.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 ("showroom HCM-Q7 is 38% below trend this week") with first-pass diagnosis.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logged, all answers traceable to source.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DATA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layers. One source of truth. No duplicate brains.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architecture is the platform. Get this right and every future agent gets cheaper to ship.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2286000" cy="841248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SOURCE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874520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Base (mini-ERP)  ·  POS — stores + showrooms  ·  Ecommerce (Shopify / Haravan)  ·  Zalo OA  ·  FB Messenger  ·  Web chat  ·  Email  ·  Call logs  ·  Suppliers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70632"/>
            <a:ext cx="2286000" cy="841248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INGESTION &amp;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770632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Anycross — Lark-native flows  ·  n8n / Make — cross-system glue  ·  Native APIs + CDC for POS &amp; ecom  ·  Webhooks for real-time customer events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66744"/>
            <a:ext cx="2286000" cy="841248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6674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UNIFIED DATA LAYER (cloud DW)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666744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  →  Silver (conformed)  →  Gold (marts)  ·  Customer 360  ·  Inventory  ·  Orders  ·  Returns  ·  B2B  ·  Power BI semantic model points HERE — single source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62856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562856"/>
            <a:ext cx="2286000" cy="84124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6285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AI LAYER  ·  OPENCLAW + CLAUDE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4562856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Gateway — sessions, channel routing, single source of truth  ·  Agent Runtime + sandboxed tool execution per session policy  ·  Claude Engine + Proxy Handler — Anthropic API in native format  ·  RAG vector store (pgvector) + Memory System for long-term context  ·  Mission Control — live sessions, approvals, traces, eval scores, audit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458968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5458968"/>
            <a:ext cx="2286000" cy="841248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589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SURFACE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5458968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bots &amp; groups  ·  Web chat widget  ·  Zalo OA  ·  FB Messenger  ·  Power BI embedded insights (agent-generated narratives)  ·  Email automation  ·  Internal Lark approvals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OpenClaw self-hosted in APAC VPC + Claude via Proxy Handler. BigQuery as DW (Power BI native connector). pgvector on Cloud SQL for RAG — simpler to govern than a managed vector DB at this stage.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DEPLOYMENT TOPOLOGY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in Singapore. Claude reached over a controlled egress.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runs inside Ru9's APAC VPC. Customer data stays in region; only PII-masked reasoning prompts leave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47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65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VPC  ·  GCP asia-southeast1 (Singapore)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423160"/>
            <a:ext cx="3291840" cy="3383280"/>
          </a:xfrm>
          <a:prstGeom prst="rect">
            <a:avLst/>
          </a:prstGeom>
          <a:solidFill>
            <a:srgbClr val="EEE8E0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23160"/>
            <a:ext cx="64008" cy="338328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EDGE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webhooks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Messenger webhook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webhook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Messenger webhook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(WSS)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Load Balancer + WAF in front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42316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423160"/>
            <a:ext cx="64008" cy="33832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·  OPENCLAW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+ Agent Runtime + Sandbox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3383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VM behind internal LB — sessions, routing, channel adapters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VM — multi-agent council per session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 in Docker sandbox — tool calls scoped per policy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(session + long-term)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behind Lark SSO — approvals, traces, eval, audit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58200" y="2423160"/>
            <a:ext cx="3063240" cy="3383280"/>
          </a:xfrm>
          <a:prstGeom prst="rect">
            <a:avLst/>
          </a:prstGeom>
          <a:solidFill>
            <a:srgbClr val="EEE8E0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423160"/>
            <a:ext cx="64008" cy="338328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EGRESS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 in region · narrow exits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338328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(asia-southeast1) — DW + marts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 Cloud SQL — RAG store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Base + POS via private connectors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egress → Anthropic API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before any LLM call leaves VPC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FD7C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PDPD posture: customer PII is processed and stored inside the Singapore VPC. Only masked reasoning prompts traverse the controlled egress to Anthropic. Mission Control retains the full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where it's commodity. Build where it's Ru9-specific.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stack that respects what already works (Lark, POS, Power BI) and adds only what's load-bearing.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/ CONFIGURE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620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(self-hosted, APAC VPC)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209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655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OpenClaw Proxy Handler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813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(asia-southeast1)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416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672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 managed Postgres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020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 glue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276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Lark Anycross → OpenClaw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/ SSO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879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SSO (already in place)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6260" y="192024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6260" y="1920240"/>
            <a:ext cx="64008" cy="42976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640580" y="2148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RU9-SPECIFIC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058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adapters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0580" y="28620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Lark, Zalo, FB → OpenClaw Gateway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40580" y="3209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360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40580" y="34655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stitch across POS, ecom, Zalo, FB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0580" y="3813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diagnostic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058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Ru9's product-fit logic encoded as a tool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0580" y="4416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 state machine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40580" y="4672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100-night lifecycle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40580" y="5020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registry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40580" y="5276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wrappers, OpenClaw allow-listed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40580" y="5623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harness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40580" y="5879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Vietnamese-language goldens per agent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75320" y="1920240"/>
            <a:ext cx="37033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1920240"/>
            <a:ext cx="64008" cy="429768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40" name="Text 38"/>
          <p:cNvSpPr/>
          <p:nvPr/>
        </p:nvSpPr>
        <p:spPr>
          <a:xfrm>
            <a:off x="8549640" y="2148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AS-IS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4964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Lark Suite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49640" y="28620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collab + ERP surface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49640" y="3209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49640" y="34655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as transaction system of record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49640" y="3813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4964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the executive BI front-end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549640" y="4416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dashboards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49640" y="4672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Re-wire to DW, don't rebuild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GOVERNANCE &amp;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product.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built in from day one — not retrofitted after the first incident.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623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21031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 PDPD compliance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 13/2023/ND-CP — Personal Data Protection Decree.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 for any AI-mediated communication; opt-out honored within 24h.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 workflow: 72-hour clock, pre-drafted Lark + email templates.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data-protection impact assessment for each agent.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623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920240"/>
            <a:ext cx="64008" cy="2103120"/>
          </a:xfrm>
          <a:prstGeom prst="rect">
            <a:avLst/>
          </a:prstGeom>
          <a:solidFill>
            <a:srgbClr val="93B5A8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121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boundaries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&gt; VND 5M: human approval in Lark.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&gt; VND 50M: ops director approval.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customer escalation: dual-routing to agent + human.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"I'm not sure" → handoff with full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623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206240"/>
            <a:ext cx="64008" cy="210312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07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access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LLM calls (names → tokens, phone → tokens).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is allow-list only; agents can't reach beyond their scope.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SSO for human users; service accounts per agent.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actions logged to immutable audit 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206240"/>
            <a:ext cx="56235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206240"/>
            <a:ext cx="64008" cy="2103120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407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&amp; evaluation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Vietnamese-language golden datasets per agent (200+ cases).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regression run; deploy only if pass-rate ≥ baseline.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shadow mode for new versions before promotion.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with CX, Ops, and Tech leads.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months. Four phases. One platform.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value to the business — not just to the architecture diagram.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9" name="Shape 7"/>
          <p:cNvSpPr/>
          <p:nvPr/>
        </p:nvSpPr>
        <p:spPr>
          <a:xfrm>
            <a:off x="1444752" y="2157984"/>
            <a:ext cx="219456" cy="219456"/>
          </a:xfrm>
          <a:prstGeom prst="ellipse">
            <a:avLst/>
          </a:prstGeom>
          <a:solidFill>
            <a:srgbClr val="1A2547"/>
          </a:solidFill>
          <a:ln w="19050">
            <a:solidFill>
              <a:srgbClr val="FF7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2194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64008" cy="36118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alignment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channel audit: Lark, POS, ecom, Power BI, Zalo, FB.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capture for the five workflows.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VPC topology + PDPD baseline signed.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85032" y="2157984"/>
            <a:ext cx="219456" cy="219456"/>
          </a:xfrm>
          <a:prstGeom prst="ellipse">
            <a:avLst/>
          </a:prstGeom>
          <a:solidFill>
            <a:srgbClr val="1A2547"/>
          </a:solidFill>
          <a:ln w="19050">
            <a:solidFill>
              <a:srgbClr val="FF7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2606040"/>
            <a:ext cx="2194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2606040"/>
            <a:ext cx="64008" cy="36118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803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80360" y="406908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Gateway + Mission Control in APAC VPC.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Engine wired via Proxy Handler.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Messenger adapter + BigQuery + RAG store live.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25312" y="2157984"/>
            <a:ext cx="219456" cy="219456"/>
          </a:xfrm>
          <a:prstGeom prst="ellipse">
            <a:avLst/>
          </a:prstGeom>
          <a:solidFill>
            <a:srgbClr val="1A2547"/>
          </a:solidFill>
          <a:ln w="19050">
            <a:solidFill>
              <a:srgbClr val="FF7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606040"/>
            <a:ext cx="2194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606040"/>
            <a:ext cx="64008" cy="36118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two agents live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406908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Concierge first — internal Q&amp;A + KPI digest.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Concierge on web, then Zalo + FB adapters.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measure, iterate weekly.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65592" y="2157984"/>
            <a:ext cx="219456" cy="219456"/>
          </a:xfrm>
          <a:prstGeom prst="ellipse">
            <a:avLst/>
          </a:prstGeom>
          <a:solidFill>
            <a:srgbClr val="1A2547"/>
          </a:solidFill>
          <a:ln w="19050">
            <a:solidFill>
              <a:srgbClr val="FF7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2606040"/>
            <a:ext cx="2194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78040" y="2606040"/>
            <a:ext cx="64008" cy="36118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6092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scale-out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60920" y="406908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Sentinel + Trial Guardian.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adapter review + hardening.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incident playbooks.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405872" y="2157984"/>
            <a:ext cx="219456" cy="219456"/>
          </a:xfrm>
          <a:prstGeom prst="ellipse">
            <a:avLst/>
          </a:prstGeom>
          <a:solidFill>
            <a:srgbClr val="1A2547"/>
          </a:solidFill>
          <a:ln w="19050">
            <a:solidFill>
              <a:srgbClr val="FF7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0" y="2606040"/>
            <a:ext cx="2194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418320" y="2606040"/>
            <a:ext cx="64008" cy="36118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012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+ multi-agent council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01200" y="406908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Liaison live.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multi-agent council for cross-domain handoffs.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automation.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dependency: Phase 1 must be solid before Phase 2 ships. Skipping foundation = brittle agents and re-platforming in year two.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SUCCESS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Ru9 AI Agent Platform  ·  Strategy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know it's working.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12-month aspirations measured against a baseline locked in Phase 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1338560" cy="50292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338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Concierge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2423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Web→trial conversion uplift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0" y="2423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 to +25%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11338560" cy="384048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07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Concierge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0" y="28072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First-response time, all channels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0" y="2807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 seconds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191256"/>
            <a:ext cx="11338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91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Concierge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31920" y="31912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 ticket deflection rate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0" y="31912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11338560" cy="384048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75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Guardian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31920" y="35753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Trial-to-keep rate uplift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35753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to +10 pts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11338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59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Guardian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31920" y="3959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 time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69680" y="39593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11338560" cy="384048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Sentinel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31920" y="4343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incidents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0" y="4343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727448"/>
            <a:ext cx="11338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27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Sentinel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931920" y="47274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 on top SKUs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69680" y="4727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5111496"/>
            <a:ext cx="11338560" cy="384048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114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Liaison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931920" y="51114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repeat-order rate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869680" y="51114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5495544"/>
            <a:ext cx="11338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955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Concierge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931920" y="54955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staff users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869680" y="54955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70%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5879592"/>
            <a:ext cx="11338560" cy="384048"/>
          </a:xfrm>
          <a:prstGeom prst="rect">
            <a:avLst/>
          </a:prstGeom>
          <a:solidFill>
            <a:srgbClr val="EEE8E0"/>
          </a:solidFill>
          <a:ln w="5080">
            <a:solidFill>
              <a:srgbClr val="D9D2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879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Concierge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931920" y="58795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answer a policy / KPI question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869680" y="5879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minute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captured during Phase 0. Targets are revisited at Month 6 and Month 12, with public review in the Lark leadership group.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FF7A6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54864" cy="45720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 to first commitment.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703320" cy="2834640"/>
          </a:xfrm>
          <a:prstGeom prst="rect">
            <a:avLst/>
          </a:prstGeom>
          <a:solidFill>
            <a:srgbClr val="FAF6F2">
              <a:alpha val="10000"/>
            </a:srgbClr>
          </a:solidFill>
          <a:ln w="6350">
            <a:solidFill>
              <a:srgbClr val="FFD7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64008" cy="283464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session with Tech, CX, and Ops leads. Walk through Lark Base schema, POS exports, current Power BI models, top 20 customer FAQs.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2834640"/>
            <a:ext cx="3703320" cy="2834640"/>
          </a:xfrm>
          <a:prstGeom prst="rect">
            <a:avLst/>
          </a:prstGeom>
          <a:solidFill>
            <a:srgbClr val="FAF6F2">
              <a:alpha val="10000"/>
            </a:srgbClr>
          </a:solidFill>
          <a:ln w="6350">
            <a:solidFill>
              <a:srgbClr val="FFD7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834640"/>
            <a:ext cx="64008" cy="283464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474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 scoping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baselines, RACI, success metrics, and the Phase 0 deliverable list. Sign Phase-0 SOW.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3703320" cy="2834640"/>
          </a:xfrm>
          <a:prstGeom prst="rect">
            <a:avLst/>
          </a:prstGeom>
          <a:solidFill>
            <a:srgbClr val="FAF6F2">
              <a:alpha val="10000"/>
            </a:srgbClr>
          </a:solidFill>
          <a:ln w="6350">
            <a:solidFill>
              <a:srgbClr val="FFD7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834640"/>
            <a:ext cx="64008" cy="283464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474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build begins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9536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Customer 360 v1, RAG store, governance baseline. First Lark Concierge prototype within 6 weeks.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7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Ru9 — The Sleep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Ru9 AI Agent Platform — 12-Month Transformation</dc:title>
  <dc:subject>PptxGenJS Presentation</dc:subject>
  <dc:creator>AI Strategy</dc:creator>
  <cp:lastModifiedBy>AI Strategy</cp:lastModifiedBy>
  <cp:revision>1</cp:revision>
  <dcterms:created xsi:type="dcterms:W3CDTF">2026-04-21T06:27:53Z</dcterms:created>
  <dcterms:modified xsi:type="dcterms:W3CDTF">2026-04-21T06:27:53Z</dcterms:modified>
</cp:coreProperties>
</file>